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828800"/>
            <a:ext cx="6400800" cy="6400800"/>
          </a:xfrm>
          <a:prstGeom prst="ellipse">
            <a:avLst/>
          </a:prstGeom>
          <a:solidFill>
            <a:srgbClr val="FD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F0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731520"/>
            <a:ext cx="137160" cy="137160"/>
          </a:xfrm>
          <a:prstGeom prst="ellipse">
            <a:avLst/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5669280"/>
            <a:ext cx="137160" cy="137160"/>
          </a:xfrm>
          <a:prstGeom prst="ellipse">
            <a:avLst/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5943600"/>
            <a:ext cx="137160" cy="137160"/>
          </a:xfrm>
          <a:prstGeom prst="ellipse">
            <a:avLst/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D3A38"/>
                </a:solidFill>
                <a:latin typeface="Microsoft YaHei"/>
              </a:defRPr>
            </a:pPr>
            <a:r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D3A38"/>
                </a:solidFill>
                <a:latin typeface="Microsoft YaHei"/>
              </a:defRPr>
            </a:pPr>
            <a:r>
              <a:t>我的 AI 画室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743200"/>
            <a:ext cx="2194560" cy="36576"/>
          </a:xfrm>
          <a:prstGeom prst="rect">
            <a:avLst/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49BA8"/>
                </a:solidFill>
                <a:latin typeface="Microsoft YaHei"/>
              </a:defRPr>
            </a:pPr>
            <a:r>
              <a:t>免费 · 12 秒出图 · 没有次数限制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490"/>
                </a:solidFill>
                <a:latin typeface="Microsoft YaHei"/>
              </a:defRPr>
            </a:pPr>
            <a:r>
              <a:t>打字描述你想要的画面</a:t>
            </a:r>
            <a:br/>
            <a:r>
              <a:t>它帮你画出来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9BA8"/>
                </a:solidFill>
                <a:latin typeface="Microsoft YaHei"/>
              </a:defRPr>
            </a:pPr>
            <a:r>
              <a:t>往下翻看画作 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D3A38"/>
                </a:solidFill>
                <a:latin typeface="Microsoft YaHei"/>
              </a:defRPr>
            </a:pPr>
            <a:r>
              <a:t>🖼️  我的 AI 画作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9BA8"/>
                </a:solidFill>
                <a:latin typeface="Microsoft YaHei"/>
              </a:defRPr>
            </a:pPr>
            <a:r>
              <a:t>以下四张 · 全部免费生成 · 每张约 12 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79" y="822960"/>
            <a:ext cx="2468880" cy="2880360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cherry_bloss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19" y="91440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19" y="325526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🌸 樱花大道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822960"/>
            <a:ext cx="2468880" cy="2880360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ghibli_hills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9" y="914400"/>
            <a:ext cx="2286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79" y="325526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🌿 治愈山坡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79" y="4069080"/>
            <a:ext cx="2468880" cy="2880360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cat_wind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19" y="4160520"/>
            <a:ext cx="22860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19" y="650138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🐱 窗台小猫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069080"/>
            <a:ext cx="2468880" cy="2880360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desk_setu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79" y="4160520"/>
            <a:ext cx="2286000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12079" y="650138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🩷 粉色桌面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D3A38"/>
                </a:solidFill>
                <a:latin typeface="Microsoft YaHei"/>
              </a:defRPr>
            </a:pPr>
            <a:r>
              <a:t>🤖 一个工具全搞定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9BA8"/>
                </a:solidFill>
                <a:latin typeface="Microsoft YaHei"/>
              </a:defRPr>
            </a:pPr>
            <a:r>
              <a:t>不用装一堆 App · 不用来回切换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536192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E8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691640"/>
            <a:ext cx="731520" cy="731520"/>
          </a:xfrm>
          <a:prstGeom prst="ellipse">
            <a:avLst/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3A38"/>
                </a:solidFill>
                <a:latin typeface="Microsoft YaHei"/>
              </a:defRPr>
            </a:pPr>
            <a:r>
              <a:t>AI 绘画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打字描述</a:t>
            </a:r>
            <a:br/>
            <a:r>
              <a:t>自动扩写</a:t>
            </a:r>
            <a:br/>
            <a:r>
              <a:t>12 秒出图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5532120"/>
            <a:ext cx="91440" cy="91440"/>
          </a:xfrm>
          <a:prstGeom prst="ellipse">
            <a:avLst/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79192" y="1536192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E8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1463040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0" y="1691640"/>
            <a:ext cx="731520" cy="731520"/>
          </a:xfrm>
          <a:prstGeom prst="ellipse">
            <a:avLst/>
          </a:prstGeom>
          <a:solidFill>
            <a:srgbClr val="A7C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06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3A38"/>
                </a:solidFill>
                <a:latin typeface="Microsoft YaHei"/>
              </a:defRPr>
            </a:pPr>
            <a:r>
              <a:t>图片识别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4612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上传即分析</a:t>
            </a:r>
            <a:br/>
            <a:r>
              <a:t>论文/表格/照片</a:t>
            </a:r>
            <a:br/>
            <a:r>
              <a:t>全都能读</a:t>
            </a:r>
          </a:p>
        </p:txBody>
      </p:sp>
      <p:sp>
        <p:nvSpPr>
          <p:cNvPr id="17" name="Oval 16"/>
          <p:cNvSpPr/>
          <p:nvPr/>
        </p:nvSpPr>
        <p:spPr>
          <a:xfrm>
            <a:off x="3337560" y="5532120"/>
            <a:ext cx="91440" cy="91440"/>
          </a:xfrm>
          <a:prstGeom prst="ellipse">
            <a:avLst/>
          </a:prstGeom>
          <a:solidFill>
            <a:srgbClr val="A7C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28032" y="1536192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E8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1463040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57800" y="1691640"/>
            <a:ext cx="731520" cy="7315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691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606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3A38"/>
                </a:solidFill>
                <a:latin typeface="Microsoft YaHei"/>
              </a:defRPr>
            </a:pPr>
            <a:r>
              <a:t>智能对话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24612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回答问题</a:t>
            </a:r>
            <a:br/>
            <a:r>
              <a:t>写文章·翻译</a:t>
            </a:r>
            <a:br/>
            <a:r>
              <a:t>写代码·查资料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0" y="5532120"/>
            <a:ext cx="91440" cy="914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76872" y="1536192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E8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1463040"/>
            <a:ext cx="1828800" cy="438912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06640" y="1691640"/>
            <a:ext cx="731520" cy="731520"/>
          </a:xfrm>
          <a:prstGeom prst="ellipse">
            <a:avLst/>
          </a:prstGeom>
          <a:solidFill>
            <a:srgbClr val="C4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691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606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3A38"/>
                </a:solidFill>
                <a:latin typeface="Microsoft YaHei"/>
              </a:defRPr>
            </a:pPr>
            <a:r>
              <a:t>网页阅读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24612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4B47"/>
                </a:solidFill>
                <a:latin typeface="Microsoft YaHei"/>
              </a:defRPr>
            </a:pPr>
            <a:r>
              <a:t>输入网址</a:t>
            </a:r>
            <a:br/>
            <a:r>
              <a:t>自动提取文字</a:t>
            </a:r>
            <a:br/>
            <a:r>
              <a:t>读论文神器</a:t>
            </a:r>
          </a:p>
        </p:txBody>
      </p:sp>
      <p:sp>
        <p:nvSpPr>
          <p:cNvPr id="31" name="Oval 30"/>
          <p:cNvSpPr/>
          <p:nvPr/>
        </p:nvSpPr>
        <p:spPr>
          <a:xfrm>
            <a:off x="7635240" y="5532120"/>
            <a:ext cx="91440" cy="91440"/>
          </a:xfrm>
          <a:prstGeom prst="ellipse">
            <a:avLst/>
          </a:prstGeom>
          <a:solidFill>
            <a:srgbClr val="C4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D3A38"/>
                </a:solidFill>
                <a:latin typeface="Microsoft YaHei"/>
              </a:defRPr>
            </a:pPr>
            <a:r>
              <a:t>💰 费用 · 不玩文字游戏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377440" cy="457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1005840"/>
          </a:xfrm>
          <a:prstGeom prst="roundRect">
            <a:avLst>
              <a:gd name="adj" fmla="val 57692"/>
            </a:avLst>
          </a:prstGeom>
          <a:solidFill>
            <a:srgbClr val="A7C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🆓  永久免费</a:t>
            </a:r>
            <a:br/>
            <a:r>
              <a:t>3 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3A38"/>
                </a:solidFill>
                <a:latin typeface="Microsoft YaHei"/>
              </a:defRPr>
            </a:pPr>
            <a:r>
              <a:t>AI 绘画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7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3A38"/>
                </a:solidFill>
                <a:latin typeface="Microsoft YaHei"/>
              </a:defRPr>
            </a:pPr>
            <a:r>
              <a:t>图片识别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3A38"/>
                </a:solidFill>
                <a:latin typeface="Microsoft YaHei"/>
              </a:defRPr>
            </a:pPr>
            <a:r>
              <a:t>网页抓取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280160"/>
            <a:ext cx="2377440" cy="457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280160"/>
            <a:ext cx="2377440" cy="1005840"/>
          </a:xfrm>
          <a:prstGeom prst="roundRect">
            <a:avLst>
              <a:gd name="adj" fmla="val 57692"/>
            </a:avLst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258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💬  按量付费</a:t>
            </a:r>
            <a:br/>
            <a:r>
              <a:t>1 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3A38"/>
                </a:solidFill>
                <a:latin typeface="Microsoft YaHei"/>
              </a:defRPr>
            </a:pPr>
            <a:r>
              <a:t>智能对话 · 没月租</a:t>
            </a:r>
            <a:br/>
            <a:r>
              <a:t>重度用月约 20-30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2377440" cy="457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2377440" cy="1005840"/>
          </a:xfrm>
          <a:prstGeom prst="roundRect">
            <a:avLst>
              <a:gd name="adj" fmla="val 57692"/>
            </a:avLst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📊  对比一下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3A38"/>
                </a:solidFill>
                <a:latin typeface="Microsoft YaHei"/>
              </a:defRPr>
            </a:pPr>
            <a:r>
              <a:t>主流 AI 订阅</a:t>
            </a:r>
            <a:br/>
            <a:r>
              <a:t>每月 100-200 元</a:t>
            </a:r>
            <a:br/>
            <a:r>
              <a:t>这个是它的 1/5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6126480"/>
            <a:ext cx="6400800" cy="457200"/>
          </a:xfrm>
          <a:prstGeom prst="roundRect">
            <a:avLst>
              <a:gd name="adj" fmla="val 21428"/>
            </a:avLst>
          </a:prstGeom>
          <a:solidFill>
            <a:srgbClr val="FD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61447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A8C"/>
                </a:solidFill>
                <a:latin typeface="Microsoft YaHei"/>
              </a:defRPr>
            </a:pPr>
            <a:r>
              <a:t>💡 画图免费 · 识图免费 · 对话便宜 · 用多少花多少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5486400" cy="5486400"/>
          </a:xfrm>
          <a:prstGeom prst="ellipse">
            <a:avLst/>
          </a:prstGeom>
          <a:solidFill>
            <a:srgbClr val="FD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D3A38"/>
                </a:solidFill>
                <a:latin typeface="Microsoft YaHei"/>
              </a:defRPr>
            </a:pPr>
            <a:r>
              <a:t>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D3A38"/>
                </a:solidFill>
                <a:latin typeface="Microsoft YaHei"/>
              </a:defRPr>
            </a:pPr>
            <a:r>
              <a:t>想试试吗？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3291840"/>
            <a:ext cx="2194560" cy="27432"/>
          </a:xfrm>
          <a:prstGeom prst="rect">
            <a:avLst/>
          </a:prstGeom>
          <a:solidFill>
            <a:srgbClr val="D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C4B47"/>
                </a:solidFill>
                <a:latin typeface="Microsoft YaHei"/>
              </a:defRPr>
            </a:pPr>
            <a:r>
              <a:t>自己动手 →  网上搜得到  免费开源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C4B47"/>
                </a:solidFill>
                <a:latin typeface="Microsoft YaHei"/>
              </a:defRPr>
            </a:pPr>
            <a:r>
              <a:t>找人帮忙 →  装好配好  包教包会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97A8C"/>
                </a:solidFill>
                <a:latin typeface="Microsoft YaHei"/>
              </a:defRPr>
            </a:pPr>
            <a:r>
              <a:t>感兴趣的评论区打个招呼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49BA8"/>
                </a:solidFill>
                <a:latin typeface="Microsoft YaHei"/>
              </a:defRPr>
            </a:pPr>
            <a:r>
              <a:t>我都会回复 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